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-914400"/>
            <a:ext cx="14020495" cy="8686800"/>
          </a:xfrm>
          <a:prstGeom prst="rect">
            <a:avLst/>
          </a:prstGeom>
          <a:solidFill>
            <a:srgbClr val="1E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A83C"/>
                </a:solidFill>
                <a:latin typeface="Arial"/>
              </a:rPr>
              <a:t>MAZEHUB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E6E8EE"/>
                </a:solidFill>
                <a:latin typeface="Arial"/>
              </a:rPr>
              <a:t>A maze gallery, built and</a:t>
            </a:r>
          </a:p>
          <a:p>
            <a:pPr algn="l">
              <a:spcAft>
                <a:spcPts val="800"/>
              </a:spcAft>
            </a:pPr>
            <a:r>
              <a:rPr sz="4000" b="1">
                <a:solidFill>
                  <a:srgbClr val="E6E8EE"/>
                </a:solidFill>
                <a:latin typeface="Arial"/>
              </a:rPr>
              <a:t>shipped the DevOps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9AA2B2"/>
                </a:solidFill>
                <a:latin typeface="Arial"/>
              </a:rPr>
              <a:t>Session 21 capstone. Ten modules, from the application to AWS.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526280"/>
            <a:ext cx="2743200" cy="38100"/>
          </a:xfrm>
          <a:prstGeom prst="rect">
            <a:avLst/>
          </a:prstGeom>
          <a:solidFill>
            <a:srgbClr val="E8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6E8EE"/>
                </a:solidFill>
                <a:latin typeface="Arial"/>
              </a:rPr>
              <a:t>Bibek Jyoti Charah  .  24bcs10112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6E8EE"/>
                </a:solidFill>
                <a:latin typeface="Arial"/>
              </a:rPr>
              <a:t>github.com/SammyUrfen/devops-session-21-final-project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-914400"/>
            <a:ext cx="14020495" cy="8686800"/>
          </a:xfrm>
          <a:prstGeom prst="rect">
            <a:avLst/>
          </a:prstGeom>
          <a:solidFill>
            <a:srgbClr val="1E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6E8EE"/>
                </a:solidFill>
                <a:latin typeface="Arial"/>
              </a:rPr>
              <a:t>What the application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698480" cy="25400"/>
          </a:xfrm>
          <a:prstGeom prst="rect">
            <a:avLst/>
          </a:prstGeom>
          <a:solidFill>
            <a:srgbClr val="E8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A player picks a maze from the gallery and walks it on a canvas with the arrow keys.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The server carves every generated maze from a seed with a randomized depth-first search.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A breadth-first search proves the maze is solvable before the server stores it.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A second mode lets a person draw a maze by hand, wall by wall.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The server repeats five structural checks on a drawn grid, so no client can store a bad maze.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The browser records a run when the player reaches the exit cell. No sign 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754880"/>
            <a:ext cx="5029200" cy="1828800"/>
          </a:xfrm>
          <a:prstGeom prst="rect">
            <a:avLst/>
          </a:prstGeom>
          <a:solidFill>
            <a:srgbClr val="262933"/>
          </a:solidFill>
          <a:ln>
            <a:solidFill>
              <a:srgbClr val="3A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95604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The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76672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2 tables, mazes and completions, with a cascading foreign key.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2 Alembic migrations. 14 REST endpoints.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4754880"/>
            <a:ext cx="5029200" cy="1828800"/>
          </a:xfrm>
          <a:prstGeom prst="rect">
            <a:avLst/>
          </a:prstGeom>
          <a:solidFill>
            <a:srgbClr val="262933"/>
          </a:solidFill>
          <a:ln>
            <a:solidFill>
              <a:srgbClr val="3A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95604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The 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376672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Size, cell value, a closed border,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neighbours that agree about a shared wall,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and a real path from the entrance to the exit.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-914400"/>
            <a:ext cx="14020495" cy="8686800"/>
          </a:xfrm>
          <a:prstGeom prst="rect">
            <a:avLst/>
          </a:prstGeom>
          <a:solidFill>
            <a:srgbClr val="1E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6E8EE"/>
                </a:solidFill>
                <a:latin typeface="Arial"/>
              </a:rPr>
              <a:t>One request,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698480" cy="25400"/>
          </a:xfrm>
          <a:prstGeom prst="rect">
            <a:avLst/>
          </a:prstGeom>
          <a:solidFill>
            <a:srgbClr val="E8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10515600" cy="3017520"/>
          </a:xfrm>
          <a:prstGeom prst="rect">
            <a:avLst/>
          </a:prstGeom>
          <a:solidFill>
            <a:srgbClr val="14161C"/>
          </a:solidFill>
          <a:ln>
            <a:solidFill>
              <a:srgbClr val="3A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84832"/>
            <a:ext cx="10058400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Browser  -&gt;  Ingress (nginx)  -&gt;  /      -&gt;  frontend Service  -&gt;  2 nginx pods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                               \-&gt; /api  -&gt;  backend Service   -&gt;  2 FastAPI pods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backend pod  -&gt;  postgres Service  -&gt;  postgres pod  -&gt;  PersistentVolumeClaim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backend pod  -&gt;  /metrics  &lt;-  ServiceMonitor  &lt;-  Prometheus  -&gt;  Grafana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120640"/>
            <a:ext cx="3291840" cy="1280160"/>
          </a:xfrm>
          <a:prstGeom prst="rect">
            <a:avLst/>
          </a:prstGeom>
          <a:solidFill>
            <a:srgbClr val="262933"/>
          </a:solidFill>
          <a:ln>
            <a:solidFill>
              <a:srgbClr val="3A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3218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7424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Helm renders every object.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One chart, two value files.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5120640"/>
            <a:ext cx="3291840" cy="1280160"/>
          </a:xfrm>
          <a:prstGeom prst="rect">
            <a:avLst/>
          </a:prstGeom>
          <a:solidFill>
            <a:srgbClr val="262933"/>
          </a:solidFill>
          <a:ln>
            <a:solidFill>
              <a:srgbClr val="3A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53218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57424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Postgres 16 on a PVC.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Alembic runs before uvicorn.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5120640"/>
            <a:ext cx="3291840" cy="1280160"/>
          </a:xfrm>
          <a:prstGeom prst="rect">
            <a:avLst/>
          </a:prstGeom>
          <a:solidFill>
            <a:srgbClr val="262933"/>
          </a:solidFill>
          <a:ln>
            <a:solidFill>
              <a:srgbClr val="3A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53218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57424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HPA holds the backend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between 2 and 5 pods at 50% CPU.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-914400"/>
            <a:ext cx="14020495" cy="8686800"/>
          </a:xfrm>
          <a:prstGeom prst="rect">
            <a:avLst/>
          </a:prstGeom>
          <a:solidFill>
            <a:srgbClr val="1E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6E8EE"/>
                </a:solidFill>
                <a:latin typeface="Arial"/>
              </a:rPr>
              <a:t>The stack, and why each piece is there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698480" cy="25400"/>
          </a:xfrm>
          <a:prstGeom prst="rect">
            <a:avLst/>
          </a:prstGeom>
          <a:solidFill>
            <a:srgbClr val="E8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5029200" cy="2011680"/>
          </a:xfrm>
          <a:prstGeom prst="rect">
            <a:avLst/>
          </a:prstGeom>
          <a:solidFill>
            <a:srgbClr val="262933"/>
          </a:solidFill>
          <a:ln>
            <a:solidFill>
              <a:srgbClr val="3A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2140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FastAPI and SQLAlchemy 2 on Python 3.12.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Alembic for the schema. Postgres 16.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React 19 and Vite. A canvas, no game library.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920240"/>
            <a:ext cx="5029200" cy="2011680"/>
          </a:xfrm>
          <a:prstGeom prst="rect">
            <a:avLst/>
          </a:prstGeom>
          <a:solidFill>
            <a:srgbClr val="262933"/>
          </a:solidFill>
          <a:ln>
            <a:solidFill>
              <a:srgbClr val="3A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2140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42032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Docker and docker compose.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GitHub Actions, 6 jobs. GHCR for the images.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Helm 3 and Kubernetes 1.31.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14800"/>
            <a:ext cx="5029200" cy="2011680"/>
          </a:xfrm>
          <a:prstGeom prst="rect">
            <a:avLst/>
          </a:prstGeom>
          <a:solidFill>
            <a:srgbClr val="262933"/>
          </a:solidFill>
          <a:ln>
            <a:solidFill>
              <a:srgbClr val="3A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31596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36592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Bandit for the Python source.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pip-audit and npm audit for the dependencies.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gitleaks over the history. Trivy on both images.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114800"/>
            <a:ext cx="5029200" cy="2011680"/>
          </a:xfrm>
          <a:prstGeom prst="rect">
            <a:avLst/>
          </a:prstGeom>
          <a:solidFill>
            <a:srgbClr val="262933"/>
          </a:solidFill>
          <a:ln>
            <a:solidFill>
              <a:srgbClr val="3A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31596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736592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Terraform 1.16 for the AWS layer.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kube-prometheus-stack for the metrics.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Grafana for the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-914400"/>
            <a:ext cx="14020495" cy="8686800"/>
          </a:xfrm>
          <a:prstGeom prst="rect">
            <a:avLst/>
          </a:prstGeom>
          <a:solidFill>
            <a:srgbClr val="1E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6E8EE"/>
                </a:solidFill>
                <a:latin typeface="Arial"/>
              </a:rPr>
              <a:t>Tests come before the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698480" cy="25400"/>
          </a:xfrm>
          <a:prstGeom prst="rect">
            <a:avLst/>
          </a:prstGeom>
          <a:solidFill>
            <a:srgbClr val="E8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49 tests in total. 39 with pytest on the backend, 10 with node --test on the maze rules.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Each test runs against a throwaway SQLite file, never against Postgres.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The tests cover the carve, the solver, the completion guard and all five drawn-maze rules.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The pipeline runs both suites before it builds an image.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14800"/>
            <a:ext cx="10515600" cy="1280160"/>
          </a:xfrm>
          <a:prstGeom prst="rect">
            <a:avLst/>
          </a:prstGeom>
          <a:solidFill>
            <a:srgbClr val="14161C"/>
          </a:solidFill>
          <a:ln>
            <a:solidFill>
              <a:srgbClr val="3A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279392"/>
            <a:ext cx="100584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collected 39 items                                        [100%]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39 passed, 1 warning in 2.30s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tests 10   pass 10   fail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9AA2B2"/>
                </a:solidFill>
                <a:latin typeface="Arial"/>
              </a:rPr>
              <a:t>The cheat guard is the test I like most: a run with fewer moves than the shortest path gets a 422.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-914400"/>
            <a:ext cx="14020495" cy="8686800"/>
          </a:xfrm>
          <a:prstGeom prst="rect">
            <a:avLst/>
          </a:prstGeom>
          <a:solidFill>
            <a:srgbClr val="1E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6E8EE"/>
                </a:solidFill>
                <a:latin typeface="Arial"/>
              </a:rPr>
              <a:t>Two images, both small and both non-root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698480" cy="25400"/>
          </a:xfrm>
          <a:prstGeom prst="rect">
            <a:avLst/>
          </a:prstGeom>
          <a:solidFill>
            <a:srgbClr val="E8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5029200" cy="2377440"/>
          </a:xfrm>
          <a:prstGeom prst="rect">
            <a:avLst/>
          </a:prstGeom>
          <a:solidFill>
            <a:srgbClr val="262933"/>
          </a:solidFill>
          <a:ln>
            <a:solidFill>
              <a:srgbClr val="3A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2140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480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python:3.12-alpine.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Runs as uid 10001.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Command: alembic upgrade head, then uvicorn.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It waits for the Postgres health check first.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920240"/>
            <a:ext cx="5029200" cy="2377440"/>
          </a:xfrm>
          <a:prstGeom prst="rect">
            <a:avLst/>
          </a:prstGeom>
          <a:solidFill>
            <a:srgbClr val="262933"/>
          </a:solidFill>
          <a:ln>
            <a:solidFill>
              <a:srgbClr val="3A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2140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42032"/>
            <a:ext cx="4480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A 2 stage build.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Stage 1 is node:22-alpine and runs the Vite build.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Stage 2 is nginx-unprivileged and serves /dist.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Runs as uid 101.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26280"/>
            <a:ext cx="10515600" cy="1371600"/>
          </a:xfrm>
          <a:prstGeom prst="rect">
            <a:avLst/>
          </a:prstGeom>
          <a:solidFill>
            <a:srgbClr val="14161C"/>
          </a:solidFill>
          <a:ln>
            <a:solidFill>
              <a:srgbClr val="3A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690872"/>
            <a:ext cx="1005840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$ docker compose up --build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  Image mazehub-frontend  Built      Container mazehub-postgres-1  Healthy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  Image mazehub-backend   Built      Uvicorn running on http://0.0.0.0:8000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-914400"/>
            <a:ext cx="14020495" cy="8686800"/>
          </a:xfrm>
          <a:prstGeom prst="rect">
            <a:avLst/>
          </a:prstGeom>
          <a:solidFill>
            <a:srgbClr val="1E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6E8EE"/>
                </a:solidFill>
                <a:latin typeface="Arial"/>
              </a:rPr>
              <a:t>Six jobs, and the gate between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698480" cy="25400"/>
          </a:xfrm>
          <a:prstGeom prst="rect">
            <a:avLst/>
          </a:prstGeom>
          <a:solidFill>
            <a:srgbClr val="E8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10515600" cy="2103120"/>
          </a:xfrm>
          <a:prstGeom prst="rect">
            <a:avLst/>
          </a:prstGeom>
          <a:solidFill>
            <a:srgbClr val="14161C"/>
          </a:solidFill>
          <a:ln>
            <a:solidFill>
              <a:srgbClr val="3A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84832"/>
            <a:ext cx="1005840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1 Build + unit test  --+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2 SAST (Bandit)      --+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3 SCA (pip + npm)    --+--&gt; 5 Docker build, Trivy scan, gate, push  --&gt; 6 Deploy to kind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4 Secret scan        --+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E6E8EE"/>
                </a:solidFill>
                <a:latin typeface="Arial"/>
              </a:rPr>
              <a:t>Jobs 1 to 4 run at the same time. Job 5 declares needs on all four, so a red scanner blocks the push.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E6E8EE"/>
                </a:solidFill>
                <a:latin typeface="Arial"/>
              </a:rPr>
              <a:t>Job 5 tags both images with the commit SHA and pushes them to GHCR. Both packages are public.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E6E8EE"/>
                </a:solidFill>
                <a:latin typeface="Arial"/>
              </a:rPr>
              <a:t>Job 6 creates a kind cluster, installs the same Helm chart with those SHA tags, and runs a smoke test.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-914400"/>
            <a:ext cx="14020495" cy="8686800"/>
          </a:xfrm>
          <a:prstGeom prst="rect">
            <a:avLst/>
          </a:prstGeom>
          <a:solidFill>
            <a:srgbClr val="1E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6E8EE"/>
                </a:solidFill>
                <a:latin typeface="Arial"/>
              </a:rPr>
              <a:t>Five scanners, one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698480" cy="25400"/>
          </a:xfrm>
          <a:prstGeom prst="rect">
            <a:avLst/>
          </a:prstGeom>
          <a:solidFill>
            <a:srgbClr val="E8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Trivy scans both built images for OS packages, language packages and secrets.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The gate fails the job on a fixable HIGH or CRITICAL. It does not fail on a MEDIUM.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The last run found 1 MEDIUM and 0 HIGH or CRITICAL.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474720"/>
            <a:ext cx="10515600" cy="1737360"/>
          </a:xfrm>
          <a:prstGeom prst="rect">
            <a:avLst/>
          </a:prstGeom>
          <a:solidFill>
            <a:srgbClr val="14161C"/>
          </a:solidFill>
          <a:ln>
            <a:solidFill>
              <a:srgbClr val="3A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639312"/>
            <a:ext cx="10058400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ghcr.io/sammyurfen/mazehub-backend:3db8615...  (alpine 3.24.2)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Total: 1 (LOW: 0, MEDIUM: 1, HIGH: 0, CRITICAL: 0)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zlib  CVE-2026-85091  MEDIUM  fixed  1.3.1-r0 -&gt; 1.3.2-r1  heap buffer overflow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ghcr.io/sammyurfen/mazehub-frontend:3db8615...  0 vulnerabilities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9AA2B2"/>
                </a:solidFill>
                <a:latin typeface="Arial"/>
              </a:rPr>
              <a:t>The finding is real but not reachable: MazeHub never decompresses untrusted input. The base image rebuild clears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-914400"/>
            <a:ext cx="14020495" cy="8686800"/>
          </a:xfrm>
          <a:prstGeom prst="rect">
            <a:avLst/>
          </a:prstGeom>
          <a:solidFill>
            <a:srgbClr val="1E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6E8EE"/>
                </a:solidFill>
                <a:latin typeface="Arial"/>
              </a:rPr>
              <a:t>Kubernetes and Helm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698480" cy="25400"/>
          </a:xfrm>
          <a:prstGeom prst="rect">
            <a:avLst/>
          </a:prstGeom>
          <a:solidFill>
            <a:srgbClr val="E8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3291840" cy="2103120"/>
          </a:xfrm>
          <a:prstGeom prst="rect">
            <a:avLst/>
          </a:prstGeom>
          <a:solidFill>
            <a:srgbClr val="262933"/>
          </a:solidFill>
          <a:ln>
            <a:solidFill>
              <a:srgbClr val="3A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214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Workloads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2 backend pods.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2 frontend pods.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1 postgres pod on a PVC.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920240"/>
            <a:ext cx="3291840" cy="2103120"/>
          </a:xfrm>
          <a:prstGeom prst="rect">
            <a:avLst/>
          </a:prstGeom>
          <a:solidFill>
            <a:srgbClr val="262933"/>
          </a:solidFill>
          <a:ln>
            <a:solidFill>
              <a:srgbClr val="3A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1214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542032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3 ClusterIP Services.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1 Ingress: / to the frontend,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/api to the backend.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920240"/>
            <a:ext cx="3291840" cy="2103120"/>
          </a:xfrm>
          <a:prstGeom prst="rect">
            <a:avLst/>
          </a:prstGeom>
          <a:solidFill>
            <a:srgbClr val="262933"/>
          </a:solidFill>
          <a:ln>
            <a:solidFill>
              <a:srgbClr val="3A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1214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542032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Readiness and liveness probes.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An HPA from 2 to 5 pods.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Every pod Running.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251960"/>
            <a:ext cx="10515600" cy="1737360"/>
          </a:xfrm>
          <a:prstGeom prst="rect">
            <a:avLst/>
          </a:prstGeom>
          <a:solidFill>
            <a:srgbClr val="14161C"/>
          </a:solidFill>
          <a:ln>
            <a:solidFill>
              <a:srgbClr val="3A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416552"/>
            <a:ext cx="10058400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$ helm upgrade --install mazehub helm/mazehub -n mazehub -f k8s/values-local.yaml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  STATUS: deployed   REVISION: 5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$ kubectl get pods -n mazehub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  5 pods, all 1/1 Running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-914400"/>
            <a:ext cx="14020495" cy="8686800"/>
          </a:xfrm>
          <a:prstGeom prst="rect">
            <a:avLst/>
          </a:prstGeom>
          <a:solidFill>
            <a:srgbClr val="1E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6E8EE"/>
                </a:solidFill>
                <a:latin typeface="Arial"/>
              </a:rPr>
              <a:t>You cannot operate what you cannot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698480" cy="25400"/>
          </a:xfrm>
          <a:prstGeom prst="rect">
            <a:avLst/>
          </a:prstGeom>
          <a:solidFill>
            <a:srgbClr val="E8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The backend exposes /metrics in Prometheus format through a FastAPI instrumentator.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A ServiceMonitor from the chart tells kube-prometheus-stack where to look.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Prometheus reports the job mazehub-backend as 2 of 2 targets up.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The Grafana dashboard has five panels, and each one returns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206240"/>
            <a:ext cx="10515600" cy="1828800"/>
          </a:xfrm>
          <a:prstGeom prst="rect">
            <a:avLst/>
          </a:prstGeom>
          <a:solidFill>
            <a:srgbClr val="262933"/>
          </a:solidFill>
          <a:ln>
            <a:solidFill>
              <a:srgbClr val="3A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407408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The five panels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28032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Requests per second by handler   .   p95 latency   .   Responses per second by status class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Backend targets up   .   Requests served in total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6E8EE"/>
                </a:solidFill>
                <a:latin typeface="Arial"/>
              </a:rPr>
              <a:t>The last capture read 91284 requests served and both targets 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-914400"/>
            <a:ext cx="14020495" cy="8686800"/>
          </a:xfrm>
          <a:prstGeom prst="rect">
            <a:avLst/>
          </a:prstGeom>
          <a:solidFill>
            <a:srgbClr val="1E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6E8EE"/>
                </a:solidFill>
                <a:latin typeface="Arial"/>
              </a:rPr>
              <a:t>The AWS layer, created and destroyed by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698480" cy="25400"/>
          </a:xfrm>
          <a:prstGeom prst="rect">
            <a:avLst/>
          </a:prstGeom>
          <a:solidFill>
            <a:srgbClr val="E8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62 resources in one apply: a VPC on 10.21.0.0/16, 2 public and 2 private subnets,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a NAT gateway, an EKS cluster on 1.31, a managed node group of 2 t3.medium nodes, and 2 ECR repositories.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Both worker nodes joined and turned Ready in about 2 minutes.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657600"/>
            <a:ext cx="10515600" cy="1463040"/>
          </a:xfrm>
          <a:prstGeom prst="rect">
            <a:avLst/>
          </a:prstGeom>
          <a:solidFill>
            <a:srgbClr val="14161C"/>
          </a:solidFill>
          <a:ln>
            <a:solidFill>
              <a:srgbClr val="3A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822192"/>
            <a:ext cx="1005840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Plan:    62 to add, 0 to change, 0 to destroy.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Apply complete! Resources: 62 added, 0 changed, 0 destroyed.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C88A"/>
                </a:solidFill>
                <a:latin typeface="Courier New"/>
              </a:rPr>
              <a:t>Destroy complete! Resources: 62 destroyed.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9AA2B2"/>
                </a:solidFill>
                <a:latin typeface="Arial"/>
              </a:rPr>
              <a:t>The window ran 2.5 hours and cost about USD 0.60. A check after the destroy found 0 clusters, 0 Elastic IPs and 0 ECR repositories. The account is clean.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-914400"/>
            <a:ext cx="14020495" cy="8686800"/>
          </a:xfrm>
          <a:prstGeom prst="rect">
            <a:avLst/>
          </a:prstGeom>
          <a:solidFill>
            <a:srgbClr val="1E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6E8EE"/>
                </a:solidFill>
                <a:latin typeface="Arial"/>
              </a:rPr>
              <a:t>Commit, pipeline,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698480" cy="25400"/>
          </a:xfrm>
          <a:prstGeom prst="rect">
            <a:avLst/>
          </a:prstGeom>
          <a:solidFill>
            <a:srgbClr val="E8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The recording in demo/ shows the whole loop in 4 minutes.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60320"/>
            <a:ext cx="10515600" cy="2377440"/>
          </a:xfrm>
          <a:prstGeom prst="rect">
            <a:avLst/>
          </a:prstGeom>
          <a:solidFill>
            <a:srgbClr val="262933"/>
          </a:solidFill>
          <a:ln>
            <a:solidFill>
              <a:srgbClr val="3A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61488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The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82112"/>
            <a:ext cx="9966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E6E8EE"/>
                </a:solidFill>
                <a:latin typeface="Arial"/>
              </a:rPr>
              <a:t>0:05   One line changes in helm/mazehub/values.yaml.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E6E8EE"/>
                </a:solidFill>
                <a:latin typeface="Arial"/>
              </a:rPr>
              <a:t>0:33   git add, git commit, git push.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E6E8EE"/>
                </a:solidFill>
                <a:latin typeface="Arial"/>
              </a:rPr>
              <a:t>1:03   The pipeline starts. Six jobs.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E6E8EE"/>
                </a:solidFill>
                <a:latin typeface="Arial"/>
              </a:rPr>
              <a:t>2:33   Jobs 1 to 5 pass.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E6E8EE"/>
                </a:solidFill>
                <a:latin typeface="Arial"/>
              </a:rPr>
              <a:t>4:03   Job 6 installs the chart with the new SHA tags. 5 pods Running, the smoke test returns READY.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E6E8EE"/>
                </a:solidFill>
                <a:latin typeface="Arial"/>
              </a:rPr>
              <a:t>Every screenshot the rubric asks for is in docs/evidence/, with an index that names the module and the file.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-914400"/>
            <a:ext cx="14020495" cy="8686800"/>
          </a:xfrm>
          <a:prstGeom prst="rect">
            <a:avLst/>
          </a:prstGeom>
          <a:solidFill>
            <a:srgbClr val="1E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HONEST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6E8EE"/>
                </a:solidFill>
                <a:latin typeface="Arial"/>
              </a:rPr>
              <a:t>What this project does not prove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698480" cy="25400"/>
          </a:xfrm>
          <a:prstGeom prst="rect">
            <a:avLst/>
          </a:prstGeom>
          <a:solidFill>
            <a:srgbClr val="E8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The cluster evidence comes from minikube and from kind inside the runner. MazeHub never ran on EKS.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The AWS window was 2.5 hours. Nothing here proves the infrastructure survives a long run or an upgrade.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Terraform state is a local file. That suits one operator and would not suit a team.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The HPA was never put under a real load test. The 50% CPU target is a default, not a measured number.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8EE"/>
                </a:solidFill>
                <a:latin typeface="Arial"/>
              </a:rPr>
              <a:t>There is no sign in. The player name lives in the browser, so the author field is a label, not an identity.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-914400"/>
            <a:ext cx="14020495" cy="8686800"/>
          </a:xfrm>
          <a:prstGeom prst="rect">
            <a:avLst/>
          </a:prstGeom>
          <a:solidFill>
            <a:srgbClr val="1E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A83C"/>
                </a:solidFill>
                <a:latin typeface="Arial"/>
              </a:rPr>
              <a:t>WHERE TO 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6E8EE"/>
                </a:solidFill>
                <a:latin typeface="Arial"/>
              </a:rPr>
              <a:t>Module, code,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698480" cy="25400"/>
          </a:xfrm>
          <a:prstGeom prst="rect">
            <a:avLst/>
          </a:prstGeom>
          <a:solidFill>
            <a:srgbClr val="E8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10515600" cy="3931920"/>
          </a:xfrm>
          <a:prstGeom prst="rect">
            <a:avLst/>
          </a:prstGeom>
          <a:solidFill>
            <a:srgbClr val="14161C"/>
          </a:solidFill>
          <a:ln>
            <a:solidFill>
              <a:srgbClr val="3A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84832"/>
            <a:ext cx="10058400" cy="360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CC88A"/>
                </a:solidFill>
                <a:latin typeface="Courier New"/>
              </a:rPr>
              <a:t>M1  Application      backend/app, frontend/src        docs/evidence/m01-*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CC88A"/>
                </a:solidFill>
                <a:latin typeface="Courier New"/>
              </a:rPr>
              <a:t>M2  Tests            backend/tests                    docs/evidence/m02-*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CC88A"/>
                </a:solidFill>
                <a:latin typeface="Courier New"/>
              </a:rPr>
              <a:t>M3  Git              the commit history               docs/evidence/m03-*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CC88A"/>
                </a:solidFill>
                <a:latin typeface="Courier New"/>
              </a:rPr>
              <a:t>M4  Docker           backend/ and frontend/Dockerfile docs/evidence/m04-*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CC88A"/>
                </a:solidFill>
                <a:latin typeface="Courier New"/>
              </a:rPr>
              <a:t>M5  CI/CD            .github/workflows/ci-cd.yml      docs/evidence/m05-*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CC88A"/>
                </a:solidFill>
                <a:latin typeface="Courier New"/>
              </a:rPr>
              <a:t>M6  Trivy            security/TRIVY.md                docs/evidence/m06-*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CC88A"/>
                </a:solidFill>
                <a:latin typeface="Courier New"/>
              </a:rPr>
              <a:t>M7  Terraform        terraform/                       docs/evidence/m07-*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CC88A"/>
                </a:solidFill>
                <a:latin typeface="Courier New"/>
              </a:rPr>
              <a:t>M8  Kubernetes       k8s/ and helm/mazehub/           docs/evidence/m08-*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CC88A"/>
                </a:solidFill>
                <a:latin typeface="Courier New"/>
              </a:rPr>
              <a:t>M9  Observability    monitoring/                      docs/evidence/m09-*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CC88A"/>
                </a:solidFill>
                <a:latin typeface="Courier New"/>
              </a:rPr>
              <a:t>M10 Documentation    README.md                        demo/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E8A83C"/>
                </a:solidFill>
                <a:latin typeface="Arial"/>
              </a:rPr>
              <a:t>github.com/SammyUrfen/devops-session-21-final-project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